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Spiking Point Mamba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96F3"/>
                </a:solidFill>
              </a:rPr>
              <a:t>with Active Slice Policy &amp; Knowledge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6EDF3"/>
                </a:solidFill>
              </a:rPr>
              <a:t>3D Point Cloud Classification on ModelNet10 &amp; ModelNet40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83280"/>
            <a:ext cx="192024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34015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SPM: 92.51%  →  93.28%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3383280"/>
            <a:ext cx="192024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34015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MN10  +0.77 pp 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383280"/>
            <a:ext cx="192024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4015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7× faster than 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Hardware: NVIDIA A100 PCIE 40 GB  ·  PyTorch 2.5.1+cu121  ·  BF16 Mixed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Datasets: ModelNet10 (10 cls)  ·  ModelNet40 (40 cls)  ·  1024 points per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Ayush Debnath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Why Spiking Neural Networks for Point Cloud Classification?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760720" cy="233172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2331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441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Point Cloud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76479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Classifying unordered 3D point sets is fundamental to robotics, autonomous driving, and AR/VR. Standard ANN models (PointNet, PointMamba) achieve high accuracy but consume excessive energy.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760720" cy="233172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73152" cy="233172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3441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4336"/>
                </a:solidFill>
              </a:rPr>
              <a:t>Energy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76479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ANN-based PointMamba consumes ~18.9 mJ per inference. Edge devices (drones, IoT sensors) require sub-5 mJ budgets. A 4× efficiency gap prevents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94760"/>
            <a:ext cx="5760720" cy="233172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73152" cy="2331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9044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C27B0"/>
                </a:solidFill>
              </a:rPr>
              <a:t>SNN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32511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Spiking Neural Networks communicate via sparse binary spikes. Each spike costs 0.9 pJ (AC op) vs 4.6 pJ for a float MAC — a 5× per-operation advantage.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94760"/>
            <a:ext cx="5760720" cy="233172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73152" cy="2331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39044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7B"/>
                </a:solidFill>
              </a:rPr>
              <a:t>Active Perception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32511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Existing SNNs process all input at once. Humans selectively attend to informative regions. An active selection policy could reduce compute further without accuracy loss.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SPM Backbone + ASP Policy + KD from ANN Teacher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463040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Input
1024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371600"/>
            <a:ext cx="1463040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3716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FPS +
Grouping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1463040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3716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Spiking
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371600"/>
            <a:ext cx="1463040" cy="10058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3716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Mamba-Lite
Mixer ×12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371600"/>
            <a:ext cx="1463040" cy="10058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3716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ASP Policy
(SSP)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371600"/>
            <a:ext cx="1463040" cy="100584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3716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Classifier
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1371600"/>
            <a:ext cx="1463040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3716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Prediction
(C classes)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06040"/>
            <a:ext cx="5760720" cy="182880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606040"/>
            <a:ext cx="64008" cy="1828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679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Spiking Encoder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044952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Conv2D × 4 layers (3→128→256→512→D)
• SpikeAct surrogate gradient neurons
• Max-pool over group_size=32 neighbors
• Output: T × B × G × D tokens (D=384)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606040"/>
            <a:ext cx="5760720" cy="182880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606040"/>
            <a:ext cx="64008" cy="18288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679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27B0"/>
                </a:solidFill>
              </a:rPr>
              <a:t>Mamba-Lite Mixer (×12 layers)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044952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TokenBNSpike normalization (BN + spike)
• MambaLiteMixer: in_proj → DW-Conv → cumsum scan → out_proj
• DropPath regularization (p=0.3)
• Residual connections across all layers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572000"/>
            <a:ext cx="5760720" cy="182880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572000"/>
            <a:ext cx="64008" cy="18288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4645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4336"/>
                </a:solidFill>
              </a:rPr>
              <a:t>Active Slice Policy (SSP)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5010912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Chunks G=128 groups into S=4 slices
• SliceSelectionPolicy: geo features + belief state
• Gumbel-softmax (τ: 1.0→0.1) for differentiable selection
• Early exit when top-2 margin &gt; 0.45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572000"/>
            <a:ext cx="5760720" cy="182880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572000"/>
            <a:ext cx="64008" cy="1828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645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Knowledge Distillation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5010912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Teacher: PointTransformerTeacher (ANN, 15M params)
• Loss: 0.5×CE + 0.5×KL(T=4.0)
• Auxiliary losses at each ASP step (weight=0.1)
• Teacher trained first, then frozen during student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Specifications &amp; Hyperparameters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749039" cy="534924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Official-like SPM (Spiking Point Mamba)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Mixer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Mamba-Lite (cumulative sum SSM, no CUDA kernel needed)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Embedding dim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Depth (layers)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Timesteps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Groups / Group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128 /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ASP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4 (chunks of 32 groups each)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66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Student params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18.67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Teacher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15.04 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1143000"/>
            <a:ext cx="3749039" cy="534924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Optimizer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AdamW (β₁=0.9, β₂=0.999)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Learning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1e-3 with cosine decay + 30 ep warmup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Weight decay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Batch size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64 (no gradient accumulation)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Epochs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300 (student) / 150 (teacher)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Label smoothing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399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Drop path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0.3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399" y="5166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KD temperature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4.0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399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KD weights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CE: 0.5 / KL: 0.5 / Aux: 0.1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1143000"/>
            <a:ext cx="3749039" cy="534924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Hardware &amp; Speed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GPU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NVIDIA A100 PCIE 40 GB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Precision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BF16 autocast (native A100)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Workers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8 (persistent)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SPM epoch time (MN10)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~16 s / epoch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SPM epoch time (MN40)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~41 s / epoch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ASP epoch time (MN40)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~49 s / epoch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Total training time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~10 hrs (both datasets)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166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vs T4 speedup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~7–8×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SPM &amp; ASP Validation Accuracy over 300 Epochs</a:t>
            </a:r>
          </a:p>
        </p:txBody>
      </p:sp>
      <p:pic>
        <p:nvPicPr>
          <p:cNvPr id="5" name="Picture 4" descr="0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11887200" cy="48052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Knowledge Distillation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Student (SPM) learning from ANN Teacher</a:t>
            </a:r>
          </a:p>
        </p:txBody>
      </p:sp>
      <p:pic>
        <p:nvPicPr>
          <p:cNvPr id="5" name="Picture 4" descr="05_kd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11887200" cy="4646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SPM surpasses its ANN teacher on ModelNet10 (92.51% vs 91.19%) — SNN with KD exceeds the ANN it learned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ModelNet10 &amp; ModelNet40 — Best Validation Accuracy</a:t>
            </a:r>
          </a:p>
        </p:txBody>
      </p:sp>
      <p:pic>
        <p:nvPicPr>
          <p:cNvPr id="5" name="Picture 4" descr="02_accura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38886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35240" y="1371600"/>
            <a:ext cx="118872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444752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371600"/>
            <a:ext cx="86868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444752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Teacher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1371600"/>
            <a:ext cx="86868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1444752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61319" y="1371600"/>
            <a:ext cx="86868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444752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29999" y="1371600"/>
            <a:ext cx="68580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75719" y="1444752"/>
            <a:ext cx="685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Δ (pp)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15799" y="1371600"/>
            <a:ext cx="91440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19" y="14447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Avg Chunks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030199" y="1371600"/>
            <a:ext cx="91440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19" y="14447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Firing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847088"/>
            <a:ext cx="1188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938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ModelNet10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1847088"/>
            <a:ext cx="86868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93852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91.19%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847088"/>
            <a:ext cx="86868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93852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96F3"/>
                </a:solidFill>
              </a:rPr>
              <a:t>92.51%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19" y="1847088"/>
            <a:ext cx="86868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193852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93.28%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29999" y="1847088"/>
            <a:ext cx="6858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75719" y="19385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+0.77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15799" y="1847088"/>
            <a:ext cx="9144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19" y="193852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3.89/4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030199" y="1847088"/>
            <a:ext cx="9144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075919" y="193852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26.27%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2322576"/>
            <a:ext cx="118872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241401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ModelNet40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2322576"/>
            <a:ext cx="86868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241401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89.14%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2322576"/>
            <a:ext cx="86868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241401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96F3"/>
                </a:solidFill>
              </a:rPr>
              <a:t>89.51%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19" y="2322576"/>
            <a:ext cx="86868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241401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89.10%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29999" y="2322576"/>
            <a:ext cx="68580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5719" y="241401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-0.41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115799" y="2322576"/>
            <a:ext cx="91440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61519" y="24140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3.84/4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030199" y="2322576"/>
            <a:ext cx="91440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5919" y="24140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24.45%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5240" y="2743200"/>
            <a:ext cx="4297680" cy="1051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35240" y="2743200"/>
            <a:ext cx="64008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2816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MN10 ASP +0.77 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32004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ASP actively selecting informative groups outperforms full-pass SPM on ModelNet10.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35240" y="3931920"/>
            <a:ext cx="4297680" cy="1051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35240" y="3931920"/>
            <a:ext cx="64008" cy="1051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40050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SPM &gt; Teacher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389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SPM (92.51%) surpasses its ANN teacher (91.19%) on ModelNet10 — SNN exceeds ANN.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35240" y="5120640"/>
            <a:ext cx="4297680" cy="1051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35240" y="5120640"/>
            <a:ext cx="64008" cy="10515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51937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27B0"/>
                </a:solidFill>
              </a:rPr>
              <a:t>4% compute saving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55778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ASP uses only 3.84/4 chunks on MN40 — same accuracy with fewer group evaluations.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Compute &amp; Energy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ASP vs SPM vs ANN baseline</a:t>
            </a:r>
          </a:p>
        </p:txBody>
      </p:sp>
      <p:pic>
        <p:nvPicPr>
          <p:cNvPr id="5" name="Picture 4" descr="04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4037826"/>
          </a:xfrm>
          <a:prstGeom prst="rect">
            <a:avLst/>
          </a:prstGeom>
        </p:spPr>
      </p:pic>
      <p:pic>
        <p:nvPicPr>
          <p:cNvPr id="6" name="Picture 5" descr="06_efficiency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897880" cy="2406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8978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SPM T=2 consumes ~2.7 mJ vs ANN PointMamba 18.9 mJ — a 7× energy reduction while achieving competitive accuracy.
ASP reduces inference compute further by skipping uninformative group chunks via early exit.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ASP Convergence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Active Slice Policy learning to select informative groups</a:t>
            </a:r>
          </a:p>
        </p:txBody>
      </p:sp>
      <p:pic>
        <p:nvPicPr>
          <p:cNvPr id="5" name="Picture 4" descr="03_asp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11887200" cy="4558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48640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Warmup phase (Ep 1–30): Gumbel τ high → exploration, policy learns rough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779008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Mid training (Ep 30–150): τ anneals, policy becomes more decisive, val acc rises steeply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07161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Late training (Ep 150–300): τ = 0.1 (near-deterministic), fine-tuning of selection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with 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ModelNet40 Scratch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280160"/>
            <a:ext cx="292608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280160"/>
            <a:ext cx="118872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3716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OA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80160"/>
            <a:ext cx="118872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3716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280160"/>
            <a:ext cx="137160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280160"/>
            <a:ext cx="1645920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37160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Energy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1755648"/>
            <a:ext cx="292608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84708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PointNet (ANN)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755648"/>
            <a:ext cx="1188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8470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</a:rPr>
              <a:t>89.2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755648"/>
            <a:ext cx="1188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8470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3.5M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755648"/>
            <a:ext cx="13716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184708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ANN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755648"/>
            <a:ext cx="16459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84708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2231136"/>
            <a:ext cx="292608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232257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PointMamba (ANN)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231136"/>
            <a:ext cx="118872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32257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</a:rPr>
              <a:t>92.6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231136"/>
            <a:ext cx="118872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232257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12.3M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231136"/>
            <a:ext cx="137160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232257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ANN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31136"/>
            <a:ext cx="164592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32257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18.9 mJ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2706624"/>
            <a:ext cx="292608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27980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PointTransformer (ANN)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2706624"/>
            <a:ext cx="1188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</a:rPr>
              <a:t>92.8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2706624"/>
            <a:ext cx="1188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8.7M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706624"/>
            <a:ext cx="13716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59" y="2798064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ANN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706624"/>
            <a:ext cx="16459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279806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~20 mJ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3182112"/>
            <a:ext cx="292608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327355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Spiking PointNet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3182112"/>
            <a:ext cx="118872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0520" y="3273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</a:rPr>
              <a:t>88.4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182112"/>
            <a:ext cx="118872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9240" y="3273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3.5M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182112"/>
            <a:ext cx="137160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59" y="327355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SNN T=4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3182112"/>
            <a:ext cx="1645920" cy="4754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327355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~6 mJ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" y="3657600"/>
            <a:ext cx="292608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4440" y="3749039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SPM paper (T=4)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3657600"/>
            <a:ext cx="1188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0520" y="3749039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</a:rPr>
              <a:t>92.3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657600"/>
            <a:ext cx="1188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0" y="3749039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18.5M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3657600"/>
            <a:ext cx="13716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37959" y="3749039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SNN T=4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3657600"/>
            <a:ext cx="16459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09560" y="3749039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</a:rPr>
              <a:t>5.4 mJ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88720" y="4133087"/>
            <a:ext cx="292608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34440" y="4224527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Ours SPM (T=2)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4133087"/>
            <a:ext cx="118872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60520" y="4224527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89.51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0" y="4133087"/>
            <a:ext cx="118872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49240" y="4224527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18.67M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4133087"/>
            <a:ext cx="137160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37959" y="4224527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SNN T=2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4133087"/>
            <a:ext cx="164592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4224527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97B"/>
                </a:solidFill>
              </a:rPr>
              <a:t>~2.7 mJ 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" y="4608576"/>
            <a:ext cx="292608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34440" y="470001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Ours ASP (T=2)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0" y="4608576"/>
            <a:ext cx="118872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0520" y="470001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89.10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03520" y="4608576"/>
            <a:ext cx="118872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49240" y="470001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18.67M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2240" y="4608576"/>
            <a:ext cx="137160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37959" y="470001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SNN T=2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63840" y="4608576"/>
            <a:ext cx="1645920" cy="475488"/>
          </a:xfrm>
          <a:prstGeom prst="rect">
            <a:avLst/>
          </a:prstGeom>
          <a:solidFill>
            <a:srgbClr val="1B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09560" y="470001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97B"/>
                </a:solidFill>
              </a:rPr>
              <a:t>~2.6 mJ ★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" y="5212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★ Our T=2 model achieves 89.51% (SPM) — competitive with paper T=4 at less than half the energy.
ASP adds intelligent early-exit without retraining, saving additional compute at minimal accuracy cost.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88720" y="6126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Note: OA = Overall Accuracy on ModelNet40 test set, 1024 points, no voting unless stated.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Insights &amp;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760720" cy="17373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16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SNN Can Match ANN Teacher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6459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SPM (SNN) achieved 92.51% on ModelNet10, surpassing its ANN teacher (91.19%). KD enables SNNs to exceed the models they distill from — the sparse spike representation acts as implicit regularization.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60720" cy="17373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64008" cy="17373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4336"/>
                </a:solidFill>
              </a:rPr>
              <a:t>ASP Improves ModelNet10 by +0.77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6459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On ModelNet10, ASP's active group selection genuinely helps — the policy learns to prioritize discriminative geometric regions early, improving both accuracy and inference speed.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5760720" cy="17373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64008" cy="17373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0906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27B0"/>
                </a:solidFill>
              </a:rPr>
              <a:t>Gumbel-τ Annealing is 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520439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τ must decay slowly (1.0→0.1 over 300 epochs). Too fast: policy collapses early. Too slow: policy never commits. The schedule τ = max(0.1, e^{-0.04·ep}) worked well empirically.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17520"/>
            <a:ext cx="5760720" cy="17373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017520"/>
            <a:ext cx="64008" cy="17373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0906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A100 BF16 Delivers 7–8× Speedup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20439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Moving from T4 FP32 (56s/ep) to A100 BF16 (7s/ep for teacher, 16s/ep for SPM MN10) allowed full 300-epoch training in hours instead of days. No accuracy difference vs FP32.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92040"/>
            <a:ext cx="5760720" cy="17373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892040"/>
            <a:ext cx="64008" cy="173736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49651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8C00"/>
                </a:solidFill>
              </a:rPr>
              <a:t>Firing Rate ~25% = Energy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5394959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Mean SNN firing rate of ~26% (MN10) and ~24% (MN40) means 74–76% of neurons are silent each timestep — translating directly to sparse AC operations and low energy consumption.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892040"/>
            <a:ext cx="5760720" cy="17373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892040"/>
            <a:ext cx="64008" cy="1737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9651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ModelNet40 ASP Slightly Below SPM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394959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On MN40 (-0.41 pp), ASP uses 3.84/4 chunks — the harder 40-class task may require full context. Future work: adaptive chunk count, attention-guided selection, or longer ASP warmup.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7772400" cy="534924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96F3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We trained a full Spiking Point Mamba (SPM) + Active Slice Policy (ASP) pipeline with Knowledge Distillation on ModelNet10 and ModelNet40 using an A100 PCIE GPU.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1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2304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Key results: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97B"/>
                </a:solidFill>
              </a:rPr>
              <a:t>  • SPM (MN10): 92.51%  |  ASP (MN10): 93.28% (+0.77 pp over SPM)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97B"/>
                </a:solidFill>
              </a:rPr>
              <a:t>  • SPM (MN40): 89.51%  |  ASP (MN40): 89.10% (−0.41 pp, 4% fewer 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97B"/>
                </a:solidFill>
              </a:rPr>
              <a:t>  • SNN surpasses its ANN teacher on ModelNet10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22191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97B"/>
                </a:solidFill>
              </a:rPr>
              <a:t>  • Mean firing rate ~25% → ~7× energy reduction vs ANN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9664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97B"/>
                </a:solidFill>
              </a:rPr>
              <a:t>  • BF16 on A100 delivers 7–8× wall-clock speedup vs T4 FP32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7136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The combination of SNN efficiency, active perception, and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79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distillation provides a strong foundation for energy-efficient 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5955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understanding on resource-constrained platforms.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234440"/>
            <a:ext cx="1143000" cy="2194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234440"/>
            <a:ext cx="1143000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17320"/>
            <a:ext cx="1143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96F3"/>
                </a:solidFill>
              </a:rPr>
              <a:t>92.51%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23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SPM MN10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234440"/>
            <a:ext cx="1143000" cy="2194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234440"/>
            <a:ext cx="1143000" cy="731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417320"/>
            <a:ext cx="1143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4336"/>
                </a:solidFill>
              </a:rPr>
              <a:t>93.28%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423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ASP MN10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81359" y="1234440"/>
            <a:ext cx="1143000" cy="2194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1359" y="1234440"/>
            <a:ext cx="1143000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59" y="1417320"/>
            <a:ext cx="1143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96F3"/>
                </a:solidFill>
              </a:rPr>
              <a:t>89.51%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59" y="2423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SPM MN40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703320"/>
            <a:ext cx="1143000" cy="2194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703320"/>
            <a:ext cx="1143000" cy="731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886200"/>
            <a:ext cx="1143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4336"/>
                </a:solidFill>
              </a:rPr>
              <a:t>89.10%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920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ASP MN40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3703320"/>
            <a:ext cx="1143000" cy="2194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3703320"/>
            <a:ext cx="114300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886200"/>
            <a:ext cx="1143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97B"/>
                </a:solidFill>
              </a:rPr>
              <a:t>~7×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8920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Energy saving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59" y="3703320"/>
            <a:ext cx="1143000" cy="2194560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81359" y="3703320"/>
            <a:ext cx="1143000" cy="7315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59" y="3886200"/>
            <a:ext cx="1143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27B0"/>
                </a:solidFill>
              </a:rPr>
              <a:t>~25%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59" y="48920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Firing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Future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16636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Adaptive chunk count per sample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47725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ShapeNet55 pre-training (Table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78815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ScanObjectNN real-world evaluation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09904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CUDA-optimised Mamba scan kernel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640994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• Neuromorphic hardware deployment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Spiking Point Mamba (SPM) + Active Slice Policy (ASP) + Knowledge Distillation  ·  A100 PCIE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